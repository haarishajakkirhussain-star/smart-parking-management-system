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38328"/>
            <a:ext cx="101955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100" b="1">
                <a:solidFill>
                  <a:srgbClr val="F8FAFD"/>
                </a:solidFill>
                <a:latin typeface="Aptos"/>
              </a:rPr>
              <a:t>SATHYABAMA INSTITUTE OF SCIENCE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822960"/>
            <a:ext cx="7360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41E8CA"/>
                </a:solidFill>
                <a:latin typeface="Aptos"/>
              </a:rPr>
              <a:t>Deemed to be University • Category 'A' by MHRD • NAAC Accredited with A++ Grade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10512" y="1225296"/>
            <a:ext cx="8613648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63240" y="1737360"/>
            <a:ext cx="60807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3000" b="1">
                <a:solidFill>
                  <a:srgbClr val="F8FAFD"/>
                </a:solidFill>
                <a:latin typeface="Aptos"/>
              </a:rPr>
              <a:t>PARKSMART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542032"/>
            <a:ext cx="75438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000" b="1">
                <a:solidFill>
                  <a:srgbClr val="7AB3FF"/>
                </a:solidFill>
                <a:latin typeface="Aptos"/>
              </a:rPr>
              <a:t>Smart Parking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127248"/>
            <a:ext cx="8321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0">
                <a:solidFill>
                  <a:srgbClr val="BED0E8"/>
                </a:solidFill>
                <a:latin typeface="Aptos"/>
              </a:rPr>
              <a:t>Automated Bay Allocation • QR Parking Pass • Intelligent Occupancy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56231" y="4005072"/>
            <a:ext cx="8485632" cy="190195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A6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9424" y="4334256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41E8CA"/>
                </a:solidFill>
                <a:latin typeface="Aptos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4645152"/>
            <a:ext cx="37947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1">
                <a:solidFill>
                  <a:srgbClr val="F8FAFD"/>
                </a:solidFill>
                <a:latin typeface="Aptos"/>
              </a:rPr>
              <a:t>Haarisha Firthous J (44731132)
Rakesk K (44731143)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334256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41E8CA"/>
                </a:solidFill>
                <a:latin typeface="Aptos"/>
              </a:rPr>
              <a:t>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645152"/>
            <a:ext cx="32918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1">
                <a:solidFill>
                  <a:srgbClr val="F8FAFD"/>
                </a:solidFill>
                <a:latin typeface="Aptos"/>
              </a:rPr>
              <a:t>Computer Science &amp; Engineering
(Artificial Intelligence)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6281928"/>
            <a:ext cx="6537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BED0E8"/>
                </a:solidFill>
                <a:latin typeface="Aptos"/>
              </a:rPr>
              <a:t>Domain: Web Application • IoT Simulation • Enterprise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Project Introduction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Why ParkSmart is being built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242316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44752"/>
            <a:ext cx="22037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F55B5B"/>
                </a:solidFill>
                <a:latin typeface="Aptos"/>
              </a:rPr>
              <a:t>15–20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56231"/>
            <a:ext cx="2240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Typical time wasted searching for parking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325880"/>
            <a:ext cx="242316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444752"/>
            <a:ext cx="22037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41E8CA"/>
                </a:solidFill>
                <a:latin typeface="Aptos"/>
              </a:rPr>
              <a:t>24×7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56231"/>
            <a:ext cx="2240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Digital parking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325880"/>
            <a:ext cx="242316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4728" y="1444752"/>
            <a:ext cx="22037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7AB3FF"/>
                </a:solidFill>
                <a:latin typeface="Aptos"/>
              </a:rPr>
              <a:t>3 Floors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856231"/>
            <a:ext cx="2240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Basement • Ground • Upper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25880"/>
            <a:ext cx="278892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7" y="1444752"/>
            <a:ext cx="256946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47DC89"/>
                </a:solidFill>
                <a:latin typeface="Aptos"/>
              </a:rPr>
              <a:t>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56231"/>
            <a:ext cx="2606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Occupancy &amp; revenue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14600"/>
            <a:ext cx="5440680" cy="34747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514600"/>
            <a:ext cx="64008" cy="3474720"/>
          </a:xfrm>
          <a:prstGeom prst="roundRect">
            <a:avLst/>
          </a:prstGeom>
          <a:solidFill>
            <a:srgbClr val="41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651760"/>
            <a:ext cx="5120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41E8CA"/>
                </a:solidFill>
                <a:latin typeface="Aptos"/>
              </a:rPr>
              <a:t>Project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08152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63240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Reduce congestion by allocating compatible bays automatically.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1188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593592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Replace paper tickets with secure, contactless QR parking passes.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4223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23944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Calculate parking fees dynamically using configurable tariffs and grace periods.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7258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54296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Give administrators live occupancy, revenue, turnover and peak-hour analytics.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02936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84648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Maintain reliable transactions even when multiple vehicles arrive together.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2514600"/>
            <a:ext cx="5532120" cy="34747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26480" y="2514600"/>
            <a:ext cx="64008" cy="3474720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651760"/>
            <a:ext cx="5212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7AB3FF"/>
                </a:solidFill>
                <a:latin typeface="Aptos"/>
              </a:rPr>
              <a:t>Core 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08152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063240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A single web application connects drivers, parking operations and administration.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61188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93592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The system maintains a complete parking-session lifecycle from entry to exit.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14223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123944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Vehicle classification supports separate 2-wheeler and 4-wheeler rules.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67258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654296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Database constraints and transactional updates protect parking-state integrity.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202936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184648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The design is extensible toward ANPR cameras, IoT sensors and payment gateways.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Pain points in conventional parking operations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298448"/>
            <a:ext cx="548640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64008" cy="4526280"/>
          </a:xfrm>
          <a:prstGeom prst="roundRect">
            <a:avLst/>
          </a:prstGeom>
          <a:solidFill>
            <a:srgbClr val="F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35607"/>
            <a:ext cx="5166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5B5B"/>
                </a:solidFill>
                <a:latin typeface="Aptos"/>
              </a:rPr>
              <a:t>Urban Parking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5B5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47088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Vehicles spend significant time searching for vacant bays, increasing fuel use and road congestion.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9572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5B5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Drivers often cannot see availability across multiple floors before entering a facility.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5B5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07792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Manual ticketing creates queues at entry and exit 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5B5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38144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Paper-based records make session tracking, auditing and revenue reconciliation harder.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8678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5B5B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68496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Static tariffs cannot easily reflect vehicle class, grace periods or configurable business rules.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298448"/>
            <a:ext cx="548640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298448"/>
            <a:ext cx="64008" cy="4526280"/>
          </a:xfrm>
          <a:prstGeom prst="roundRect">
            <a:avLst/>
          </a:prstGeom>
          <a:solidFill>
            <a:srgbClr val="F9C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435607"/>
            <a:ext cx="5166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9CA52"/>
                </a:solidFill>
                <a:latin typeface="Aptos"/>
              </a:rPr>
              <a:t>Traditional-System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865376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9CA52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847088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Human error and cash-handling discrepancies.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9572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9CA5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377440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Double allocation when two attendants select the same bay.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92608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9CA52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907792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No unified real-time occupancy dashboard.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45643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9CA52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438144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Difficulty identifying peak traffic periods and bay turnover.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8678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9CA52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68496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Limited support for contactless verification and digital receipts.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89320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41E8CA"/>
                </a:solidFill>
                <a:latin typeface="Aptos"/>
              </a:rPr>
              <a:t>Motivation: create a parking workflow that is faster for drivers, safer for operators and measurable for administrators.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Existing System vs ParkSmart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Operational comparison without changing the parking workflow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298448"/>
            <a:ext cx="1371600" cy="475488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80744"/>
            <a:ext cx="12252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41E8CA"/>
                </a:solidFill>
                <a:latin typeface="Aptos"/>
              </a:rPr>
              <a:t>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298448"/>
            <a:ext cx="4160520" cy="475488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380744"/>
            <a:ext cx="4014215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41E8CA"/>
                </a:solidFill>
                <a:latin typeface="Aptos"/>
              </a:rPr>
              <a:t>Traditional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298448"/>
            <a:ext cx="5212080" cy="475488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380744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41E8CA"/>
                </a:solidFill>
                <a:latin typeface="Aptos"/>
              </a:rPr>
              <a:t>ParkSmart 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47088"/>
            <a:ext cx="137160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20240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Entry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1847088"/>
            <a:ext cx="416052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1920240"/>
            <a:ext cx="397763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Manual ticket / attendant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47088"/>
            <a:ext cx="521208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920240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Digital check-in + session creation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468880"/>
            <a:ext cx="137160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542032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Bay allocation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2468880"/>
            <a:ext cx="416052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2542032"/>
            <a:ext cx="397763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Visual/manual selection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468880"/>
            <a:ext cx="521208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542032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Algorithmic compatible-slot allocation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090672"/>
            <a:ext cx="137160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163824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Occupancy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3090672"/>
            <a:ext cx="416052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3163824"/>
            <a:ext cx="397763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Local view or paper record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090672"/>
            <a:ext cx="521208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3163824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Multi-floor live grid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12464"/>
            <a:ext cx="137160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785616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Verification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57400" y="3712464"/>
            <a:ext cx="416052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3785616"/>
            <a:ext cx="397763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Ticket inspection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712464"/>
            <a:ext cx="521208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3785616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QR session verification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334256"/>
            <a:ext cx="137160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407408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Billing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57400" y="4334256"/>
            <a:ext cx="416052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4407408"/>
            <a:ext cx="397763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Static/manual calculation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334256"/>
            <a:ext cx="521208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59" y="4407408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Configurable dynamic tariff engine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956048"/>
            <a:ext cx="137160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029200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Exit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57400" y="4956048"/>
            <a:ext cx="416052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48840" y="5029200"/>
            <a:ext cx="397763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Manual settlement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6520" y="4956048"/>
            <a:ext cx="521208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59" y="5029200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Fee breakdown + digital payment record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577840"/>
            <a:ext cx="137160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650992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Analytics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57400" y="5577840"/>
            <a:ext cx="416052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48840" y="5650992"/>
            <a:ext cx="397763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Separate/manual reports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5577840"/>
            <a:ext cx="5212080" cy="56692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7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59" y="5650992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8FAFD"/>
                </a:solidFill>
                <a:latin typeface="Aptos"/>
              </a:rPr>
              <a:t>Live occupancy, revenue &amp; turnover metrics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Proposed Solution &amp;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One application for drivers, operators and administrators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3246120" cy="19933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A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47DC89"/>
                </a:solidFill>
                <a:latin typeface="Aptos"/>
              </a:rPr>
              <a:t>Interactive Multi-Floor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2880360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F8FAFD"/>
                </a:solidFill>
                <a:latin typeface="Aptos"/>
              </a:rPr>
              <a:t>Basement, Ground and Upper floors are represented as visual grids. Green indicates available bays; red indicates occupied bays.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325880"/>
            <a:ext cx="3246120" cy="19933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A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490472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7AB3FF"/>
                </a:solidFill>
                <a:latin typeface="Aptos"/>
              </a:rPr>
              <a:t>Automated Bay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47672"/>
            <a:ext cx="2880360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F8FAFD"/>
                </a:solidFill>
                <a:latin typeface="Aptos"/>
              </a:rPr>
              <a:t>Selects a compatible available slot immediately, with database-level protection against conflicting assignments.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25880"/>
            <a:ext cx="3246120" cy="19933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A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1490472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41E8CA"/>
                </a:solidFill>
                <a:latin typeface="Aptos"/>
              </a:rPr>
              <a:t>Contactless QR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1947672"/>
            <a:ext cx="2880360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F8FAFD"/>
                </a:solidFill>
                <a:latin typeface="Aptos"/>
              </a:rPr>
              <a:t>Generates a session-linked QR pass containing verification data for fast digital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3246120" cy="19933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A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22191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F9CA52"/>
                </a:solidFill>
                <a:latin typeface="Aptos"/>
              </a:rPr>
              <a:t>Dynamic Tariff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2880360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F8FAFD"/>
                </a:solidFill>
                <a:latin typeface="Aptos"/>
              </a:rPr>
              <a:t>Applies grace period, base fee, hourly rate and vehicle classification using stored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657600"/>
            <a:ext cx="3246120" cy="19933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A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822191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AB89FF"/>
                </a:solidFill>
                <a:latin typeface="Aptos"/>
              </a:rPr>
              <a:t>Admin Business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279392"/>
            <a:ext cx="2880360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F8FAFD"/>
                </a:solidFill>
                <a:latin typeface="Aptos"/>
              </a:rPr>
              <a:t>Displays occupancy percentage, daily revenue, turnover and peak-hour traffic distribution.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3657600"/>
            <a:ext cx="3246120" cy="19933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A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822191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F55B5B"/>
                </a:solidFill>
                <a:latin typeface="Aptos"/>
              </a:rPr>
              <a:t>Audit &amp; Transaction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4279392"/>
            <a:ext cx="2880360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F8FAFD"/>
                </a:solidFill>
                <a:latin typeface="Aptos"/>
              </a:rPr>
              <a:t>Parking sessions and payments are persisted with timestamps, references, status and lifecycle state.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Multi-Floor Parking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Visual occupancy management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1417320" cy="1207008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73352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47DC89"/>
                </a:solidFill>
                <a:latin typeface="Aptos"/>
              </a:rPr>
              <a:t>BASEMENT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463039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727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37943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463039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727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F55B5B"/>
                </a:solidFill>
                <a:latin typeface="Aptos"/>
              </a:rPr>
              <a:t>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37943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OCC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463039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5727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837943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1463039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5727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1837943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1463039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9" y="15727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1837943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463039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5727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F55B5B"/>
                </a:solidFill>
                <a:latin typeface="Aptos"/>
              </a:rPr>
              <a:t>A6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837943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OCC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463039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5727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837943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1463039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15727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1837943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2926080"/>
            <a:ext cx="1417320" cy="1207008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273552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7AB3FF"/>
                </a:solidFill>
                <a:latin typeface="Aptos"/>
              </a:rPr>
              <a:t>GROUND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48840" y="30632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31729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F55B5B"/>
                </a:solidFill>
                <a:latin typeface="Aptos"/>
              </a:rPr>
              <a:t>A1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4381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OCC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0" y="30632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31729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34381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30632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31729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F55B5B"/>
                </a:solidFill>
                <a:latin typeface="Aptos"/>
              </a:rPr>
              <a:t>A3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34381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OCC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0" y="30632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31729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34381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79" y="30632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799" y="31729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799" y="34381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30632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2360" y="31729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34381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58200" y="30632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1729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F55B5B"/>
                </a:solidFill>
                <a:latin typeface="Aptos"/>
              </a:rPr>
              <a:t>A7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4381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OCC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9759" y="30632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5480" y="31729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5480" y="34381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4526280"/>
            <a:ext cx="1417320" cy="1207008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AB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" y="4873752"/>
            <a:ext cx="1188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AB89FF"/>
                </a:solidFill>
                <a:latin typeface="Aptos"/>
              </a:rPr>
              <a:t>FLOOR 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48840" y="46634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94560" y="47731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94560" y="50383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0" y="46634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46120" y="47731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46120" y="50383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51960" y="46634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7680" y="47731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7680" y="50383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03520" y="46634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49240" y="47731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F55B5B"/>
                </a:solidFill>
                <a:latin typeface="Aptos"/>
              </a:rPr>
              <a:t>A4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49240" y="50383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OCC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55079" y="46634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799" y="47731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F55B5B"/>
                </a:solidFill>
                <a:latin typeface="Aptos"/>
              </a:rPr>
              <a:t>A5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799" y="50383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OCC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06640" y="46634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52360" y="47731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52360" y="50383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58200" y="46634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47731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0" y="50383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09759" y="4663440"/>
            <a:ext cx="804672" cy="87782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55480" y="4773168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47DC89"/>
                </a:solidFill>
                <a:latin typeface="Aptos"/>
              </a:rPr>
              <a:t>A8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55480" y="5038344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1">
                <a:solidFill>
                  <a:srgbClr val="BED0E8"/>
                </a:solidFill>
                <a:latin typeface="Aptos"/>
              </a:rPr>
              <a:t>FREE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148840" y="6181344"/>
            <a:ext cx="1600200" cy="34747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85416" y="620877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F8FAFD"/>
                </a:solidFill>
                <a:latin typeface="Aptos"/>
              </a:rPr>
              <a:t>GREEN = AVAILABLE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931920" y="6181344"/>
            <a:ext cx="1600200" cy="34747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68496" y="620877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F8FAFD"/>
                </a:solidFill>
                <a:latin typeface="Aptos"/>
              </a:rPr>
              <a:t>RED = OCCUPIED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715000" y="6181344"/>
            <a:ext cx="1600200" cy="34747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51576" y="620877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>
                <a:solidFill>
                  <a:srgbClr val="F8FAFD"/>
                </a:solidFill>
                <a:latin typeface="Aptos"/>
              </a:rPr>
              <a:t>REAL-TIME STATE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43800" y="6035040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The same grid supports search, allocation, checkout and administrative monitoring without switching to a separate parking map.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Automated Bay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How a compatible slot is selected safely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508760"/>
            <a:ext cx="1993392" cy="1874519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673352"/>
            <a:ext cx="548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>
                <a:solidFill>
                  <a:srgbClr val="41E8CA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Receive vehicle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06624"/>
            <a:ext cx="17190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BED0E8"/>
                </a:solidFill>
                <a:latin typeface="Aptos"/>
              </a:rPr>
              <a:t>License plate + vehicle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21408"/>
            <a:ext cx="274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41E8CA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08760"/>
            <a:ext cx="1993392" cy="1874519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73352"/>
            <a:ext cx="548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>
                <a:solidFill>
                  <a:srgbClr val="41E8CA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304288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706624"/>
            <a:ext cx="17190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BED0E8"/>
                </a:solidFill>
                <a:latin typeface="Aptos"/>
              </a:rPr>
              <a:t>Find AVAILABLE + compatible slots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121408"/>
            <a:ext cx="274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41E8CA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1508760"/>
            <a:ext cx="1993392" cy="1874519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1673352"/>
            <a:ext cx="548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>
                <a:solidFill>
                  <a:srgbClr val="41E8CA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304288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Prefer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706624"/>
            <a:ext cx="17190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BED0E8"/>
                </a:solidFill>
                <a:latin typeface="Aptos"/>
              </a:rPr>
              <a:t>Apply configured preference/order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2121408"/>
            <a:ext cx="274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41E8CA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4" y="1508760"/>
            <a:ext cx="1993392" cy="1874519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6" y="1673352"/>
            <a:ext cx="548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>
                <a:solidFill>
                  <a:srgbClr val="41E8CA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304288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706624"/>
            <a:ext cx="17190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BED0E8"/>
                </a:solidFill>
                <a:latin typeface="Aptos"/>
              </a:rPr>
              <a:t>Atomic conditional database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2121408"/>
            <a:ext cx="274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41E8CA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0072" y="1508760"/>
            <a:ext cx="1993392" cy="1874519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33304" y="1673352"/>
            <a:ext cx="548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>
                <a:solidFill>
                  <a:srgbClr val="47DC89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304288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Confirm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2706624"/>
            <a:ext cx="17190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BED0E8"/>
                </a:solidFill>
                <a:latin typeface="Aptos"/>
              </a:rPr>
              <a:t>Create parking session + QR pass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94760"/>
            <a:ext cx="5440680" cy="21488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3794760"/>
            <a:ext cx="64008" cy="2148840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931920"/>
            <a:ext cx="5120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7AB3FF"/>
                </a:solidFill>
                <a:latin typeface="Aptos"/>
              </a:rPr>
              <a:t>Allocation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36168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43400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Only AVAILABLE slots are candidates.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9204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73752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Vehicle type compatibility is checked before allocation.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42239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404104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The system can apply preferred zone/floor ordering.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95274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34456"/>
            <a:ext cx="4892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A successful claim is immediately reflected in the live grid.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3794760"/>
            <a:ext cx="5532120" cy="21488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26480" y="3794760"/>
            <a:ext cx="64008" cy="2148840"/>
          </a:xfrm>
          <a:prstGeom prst="roundRect">
            <a:avLst/>
          </a:prstGeom>
          <a:solidFill>
            <a:srgbClr val="47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931920"/>
            <a:ext cx="5212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47DC89"/>
                </a:solidFill>
                <a:latin typeface="Aptos"/>
              </a:rPr>
              <a:t>Concurrency Guarantee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36168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343400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The database update includes the current AVAILABLE condition.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89204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873752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Exactly one concurrent request can change a specific row successfully.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42239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404104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Conflicting requests observe zero updated rows and retry/fallback.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95274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934456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This prevents the same bay from being assigned twice.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Contactless QR Parking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Session-linked digital verification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325880"/>
            <a:ext cx="379476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70432" y="1874519"/>
            <a:ext cx="2423160" cy="242316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61872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68856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75841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96796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0765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5689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59659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7598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4583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965960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1872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68856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75841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96796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0765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45689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59659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87598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4583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207294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61872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68856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75841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89811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17750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38704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66644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87598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4583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01568" y="2179929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75841" y="228691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82826" y="228691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24735" y="228691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1720" y="228691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73628" y="228691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80613" y="228691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75841" y="250088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82826" y="250088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24735" y="250088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31720" y="250088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73628" y="250088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80613" y="2500884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68856" y="260786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89811" y="260786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17750" y="260786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38704" y="260786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66644" y="260786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87598" y="260786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61872" y="271485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96796" y="271485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10765" y="271485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45689" y="271485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59659" y="271485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94583" y="271485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61872" y="282183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96796" y="282183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010765" y="282183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45689" y="282183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59659" y="282183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94583" y="282183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68856" y="292882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89811" y="292882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17750" y="292882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438704" y="292882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866644" y="292882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87598" y="2928823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475841" y="303580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582826" y="303580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24735" y="303580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31720" y="303580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73628" y="303580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080613" y="3035808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475841" y="324977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582826" y="324977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24735" y="324977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331720" y="324977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973628" y="324977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80613" y="324977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68856" y="335676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689811" y="335676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117750" y="335676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38704" y="335676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866644" y="335676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187598" y="335676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61872" y="346374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796796" y="346374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010765" y="346374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545689" y="346374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759659" y="346374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294583" y="3463747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61872" y="357073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796796" y="357073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010765" y="357073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545689" y="357073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759659" y="357073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294583" y="3570732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368856" y="367771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89811" y="367771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117750" y="367771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438704" y="367771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866644" y="367771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187598" y="367771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475841" y="378470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582826" y="378470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224735" y="378470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331720" y="378470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973628" y="378470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080613" y="378470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261872" y="389168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368856" y="389168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475841" y="389168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187598" y="389168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294583" y="389168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401568" y="389168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261872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368856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475841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582826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224735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331720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973628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080613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187598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294583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401568" y="3998671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261872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368856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475841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689811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117750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438704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866644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87598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294583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401568" y="4105656"/>
            <a:ext cx="91440" cy="9144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261872" y="1965960"/>
            <a:ext cx="749808" cy="749808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371600" y="2075688"/>
            <a:ext cx="530352" cy="530352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499616" y="2203703"/>
            <a:ext cx="274320" cy="27432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187598" y="1965960"/>
            <a:ext cx="749808" cy="749808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297326" y="2075688"/>
            <a:ext cx="530352" cy="530352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425342" y="2203703"/>
            <a:ext cx="274320" cy="27432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261872" y="3891686"/>
            <a:ext cx="749808" cy="749808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371600" y="4001414"/>
            <a:ext cx="530352" cy="530352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499616" y="4129430"/>
            <a:ext cx="274320" cy="27432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05840" y="4645152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PARKSMART QR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14400" y="5010912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F8FAFD"/>
                </a:solidFill>
                <a:latin typeface="Aptos"/>
              </a:rPr>
              <a:t>Session: PS-2026-00981
Bay: G-A04
Vehicle: MH12AB1234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617720" y="1325880"/>
            <a:ext cx="324612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4617720" y="1325880"/>
            <a:ext cx="64008" cy="4526280"/>
          </a:xfrm>
          <a:prstGeom prst="roundRect">
            <a:avLst/>
          </a:prstGeom>
          <a:solidFill>
            <a:srgbClr val="41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800600" y="1463039"/>
            <a:ext cx="29260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41E8CA"/>
                </a:solidFill>
                <a:latin typeface="Aptos"/>
              </a:rPr>
              <a:t>Payload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800600" y="1892807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29200" y="1874519"/>
            <a:ext cx="26974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Session ID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800600" y="242316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029200" y="2404872"/>
            <a:ext cx="26974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Vehicle plate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00600" y="295351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029200" y="2935224"/>
            <a:ext cx="26974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Allocated bay code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800600" y="348386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29200" y="3465576"/>
            <a:ext cx="26974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Timestamp / session metadata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4014215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29200" y="3995928"/>
            <a:ext cx="26974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Verification token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046720" y="1325880"/>
            <a:ext cx="361188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8046720" y="1325880"/>
            <a:ext cx="64008" cy="4526280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229600" y="1463039"/>
            <a:ext cx="3291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7AB3FF"/>
                </a:solidFill>
                <a:latin typeface="Aptos"/>
              </a:rPr>
              <a:t>Verification Flow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229600" y="1892807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458200" y="1874519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Backend generates the QR payload after successful allocation.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229600" y="242316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458200" y="2404872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ZXing encodes the payload into a QR image.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229600" y="295351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458200" y="2935224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The pass is rendered directly in the application.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229600" y="348386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458200" y="3465576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At validation, the session/token is checked against current records.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229600" y="4014215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8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58200" y="3995928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F8FAFD"/>
                </a:solidFill>
                <a:latin typeface="Aptos"/>
              </a:rPr>
              <a:t>No external QR API is required for generation.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Dynamic Tariff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Transparent, configurable parking billing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649224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9C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5897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9CA52"/>
                </a:solidFill>
                <a:latin typeface="Aptos"/>
              </a:rPr>
              <a:t>Fee Calculation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5806440" cy="1188720"/>
          </a:xfrm>
          <a:prstGeom prst="rect">
            <a:avLst/>
          </a:prstGeom>
          <a:noFill/>
        </p:spPr>
        <p:txBody>
          <a:bodyPr wrap="square" lIns="137160" rIns="137160" tIns="137160" bIns="137160" anchor="t">
            <a:normAutofit/>
          </a:bodyPr>
          <a:lstStyle/>
          <a:p>
            <a:pPr algn="ctr"/>
            <a:r>
              <a:rPr sz="1500" b="1">
                <a:solidFill>
                  <a:srgbClr val="F8FAFD"/>
                </a:solidFill>
                <a:latin typeface="Aptos"/>
              </a:rPr>
              <a:t>Fee = 0                         if t ≤ grace
Fee = BaseRate                  if grace &lt; t ≤ base period
Fee = BaseRate + ⌈(t − base)/60⌉ × HourlyRate   otherwise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1E8CA"/>
                </a:solidFill>
                <a:latin typeface="Aptos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576072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>
                <a:solidFill>
                  <a:srgbClr val="F8FAFD"/>
                </a:solidFill>
                <a:latin typeface="Aptos"/>
              </a:rPr>
              <a:t>Grace = 15 min   •   Base = ₹30   •   Hourly = ₹40
Parking duration = 2 h 20 min
Chargeable extension = 1 h 20 min → 2 hourly blocks
Total = ₹30 + (2 × ₹40) = ₹110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25880"/>
            <a:ext cx="443484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0" y="1325880"/>
            <a:ext cx="64008" cy="4526280"/>
          </a:xfrm>
          <a:prstGeom prst="roundRect">
            <a:avLst/>
          </a:prstGeom>
          <a:solidFill>
            <a:srgbClr val="47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463039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47DC89"/>
                </a:solidFill>
                <a:latin typeface="Aptos"/>
              </a:rPr>
              <a:t>Configuration &amp;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892807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874519"/>
            <a:ext cx="3886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Rates are stored in the parking_rates 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42316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404872"/>
            <a:ext cx="3886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Separate rules can be maintained for 2-wheelers and 4-wheelers.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95351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935224"/>
            <a:ext cx="3886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Grace periods reduce unnecessary charges for short visits.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48386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465576"/>
            <a:ext cx="3886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REST endpoints allow administrators to change rates without restarting the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014215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995928"/>
            <a:ext cx="3886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The final amount is persisted with the parking session/payment record.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Admin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Operational visibility from live parking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214884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44752"/>
            <a:ext cx="1929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47DC89"/>
                </a:solidFill>
                <a:latin typeface="Aptos"/>
              </a:rPr>
              <a:t>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56231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Current occupancy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25880"/>
            <a:ext cx="214884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444752"/>
            <a:ext cx="1929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41E8CA"/>
                </a:solidFill>
                <a:latin typeface="Aptos"/>
              </a:rPr>
              <a:t>₹18,450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56231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Daily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325880"/>
            <a:ext cx="214884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1444752"/>
            <a:ext cx="1929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7AB3FF"/>
                </a:solidFill>
                <a:latin typeface="Aptos"/>
              </a:rPr>
              <a:t>126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1856231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Sessions 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325880"/>
            <a:ext cx="214884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1444752"/>
            <a:ext cx="1929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AB89FF"/>
                </a:solidFill>
                <a:latin typeface="Aptos"/>
              </a:rPr>
              <a:t>2.7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856231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Avg. turnover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325880"/>
            <a:ext cx="201168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6648" y="1444752"/>
            <a:ext cx="179222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F9CA52"/>
                </a:solidFill>
                <a:latin typeface="Aptos"/>
              </a:rPr>
              <a:t>18:00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856231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Peak hour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560320"/>
            <a:ext cx="6720840" cy="3383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788920"/>
            <a:ext cx="3931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41E8CA"/>
                </a:solidFill>
                <a:latin typeface="Aptos"/>
              </a:rPr>
              <a:t>Occupancy &amp; Traffic Distribution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1560" y="5394960"/>
            <a:ext cx="5715000" cy="0"/>
          </a:xfrm>
          <a:prstGeom prst="line">
            <a:avLst/>
          </a:prstGeom>
          <a:ln w="12700">
            <a:solidFill>
              <a:srgbClr val="BE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51560" y="3246120"/>
            <a:ext cx="0" cy="2148840"/>
          </a:xfrm>
          <a:prstGeom prst="line">
            <a:avLst/>
          </a:prstGeom>
          <a:ln w="12700">
            <a:solidFill>
              <a:srgbClr val="BE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325880" y="4960620"/>
            <a:ext cx="411480" cy="434340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9304" y="5486400"/>
            <a:ext cx="484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0">
                <a:solidFill>
                  <a:srgbClr val="BED0E8"/>
                </a:solidFill>
                <a:latin typeface="Aptos"/>
              </a:rP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84248" y="4769510"/>
            <a:ext cx="411480" cy="625449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47672" y="5486400"/>
            <a:ext cx="484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0">
                <a:solidFill>
                  <a:srgbClr val="BED0E8"/>
                </a:solidFill>
                <a:latin typeface="Aptos"/>
              </a:rPr>
              <a:t>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42615" y="4561027"/>
            <a:ext cx="411480" cy="833932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39" y="5486400"/>
            <a:ext cx="484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0">
                <a:solidFill>
                  <a:srgbClr val="BED0E8"/>
                </a:solidFill>
                <a:latin typeface="Aptos"/>
              </a:rPr>
              <a:t>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00984" y="4317796"/>
            <a:ext cx="411480" cy="1077163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4408" y="5486400"/>
            <a:ext cx="484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0">
                <a:solidFill>
                  <a:srgbClr val="BED0E8"/>
                </a:solidFill>
                <a:latin typeface="Aptos"/>
              </a:rPr>
              <a:t>13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9352" y="4074566"/>
            <a:ext cx="411480" cy="1320393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2776" y="5486400"/>
            <a:ext cx="484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0">
                <a:solidFill>
                  <a:srgbClr val="BED0E8"/>
                </a:solidFill>
                <a:latin typeface="Aptos"/>
              </a:rPr>
              <a:t>14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3831336"/>
            <a:ext cx="411480" cy="1563624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5486400"/>
            <a:ext cx="484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0">
                <a:solidFill>
                  <a:srgbClr val="BED0E8"/>
                </a:solidFill>
                <a:latin typeface="Aptos"/>
              </a:rPr>
              <a:t>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76088" y="4144060"/>
            <a:ext cx="411480" cy="1250899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9512" y="5486400"/>
            <a:ext cx="484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0">
                <a:solidFill>
                  <a:srgbClr val="BED0E8"/>
                </a:solidFill>
                <a:latin typeface="Aptos"/>
              </a:rPr>
              <a:t>16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34456" y="4526280"/>
            <a:ext cx="411480" cy="868680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5486400"/>
            <a:ext cx="484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750" b="0">
                <a:solidFill>
                  <a:srgbClr val="BED0E8"/>
                </a:solidFill>
                <a:latin typeface="Aptos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331012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Sessions / hour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2560320"/>
            <a:ext cx="4160520" cy="3383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98079" y="2560320"/>
            <a:ext cx="64008" cy="3383280"/>
          </a:xfrm>
          <a:prstGeom prst="roundRect">
            <a:avLst/>
          </a:prstGeom>
          <a:solidFill>
            <a:srgbClr val="A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59" y="2697479"/>
            <a:ext cx="3840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AB89FF"/>
                </a:solidFill>
                <a:latin typeface="Aptos"/>
              </a:rPr>
              <a:t>Admin Metrics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59" y="312724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AB89FF"/>
                </a:solidFill>
                <a:latin typeface="Aptos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59" y="3108960"/>
            <a:ext cx="36118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Live occupancy percentage by floor/zone.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59" y="365760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AB89FF"/>
                </a:solidFill>
                <a:latin typeface="Aptos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59" y="3639312"/>
            <a:ext cx="36118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Daily revenue ledger with payment status.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59" y="418795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AB89FF"/>
                </a:solidFill>
                <a:latin typeface="Aptos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59" y="4169664"/>
            <a:ext cx="36118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Vehicle/session turnover and average duration.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59" y="471830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AB89FF"/>
                </a:solidFill>
                <a:latin typeface="Aptos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59" y="4700016"/>
            <a:ext cx="36118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Peak-hour traffic distribution for capacity planning.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59" y="5248656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AB89FF"/>
                </a:solidFill>
                <a:latin typeface="Aptos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59" y="5230368"/>
            <a:ext cx="36118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70" b="0">
                <a:solidFill>
                  <a:srgbClr val="F8FAFD"/>
                </a:solidFill>
                <a:latin typeface="Aptos"/>
              </a:rPr>
              <a:t>Audit-friendly records for operational review.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Tools selected for maintainability and enterprise-style development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298448"/>
            <a:ext cx="1920240" cy="62179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1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>
                <a:solidFill>
                  <a:srgbClr val="41E8CA"/>
                </a:solidFill>
                <a:latin typeface="Aptos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298448"/>
            <a:ext cx="356616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408176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F8FAFD"/>
                </a:solidFill>
                <a:latin typeface="Aptos"/>
              </a:rPr>
              <a:t>HTML5 • Vanilla CSS3 • JavaScript ES6+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98448"/>
            <a:ext cx="530352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89888"/>
            <a:ext cx="4937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30" b="0">
                <a:solidFill>
                  <a:srgbClr val="BED0E8"/>
                </a:solidFill>
                <a:latin typeface="Aptos"/>
              </a:rPr>
              <a:t>Glassmorphic luxury dark UI; responsive components; live grid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03120"/>
            <a:ext cx="1920240" cy="62179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49424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>
                <a:solidFill>
                  <a:srgbClr val="7AB3FF"/>
                </a:solidFill>
                <a:latin typeface="Aptos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103120"/>
            <a:ext cx="356616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212848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F8FAFD"/>
                </a:solidFill>
                <a:latin typeface="Aptos"/>
              </a:rPr>
              <a:t>Java 17+ / 26 • Spring Boot 3.3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103120"/>
            <a:ext cx="530352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4937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30" b="0">
                <a:solidFill>
                  <a:srgbClr val="BED0E8"/>
                </a:solidFill>
                <a:latin typeface="Aptos"/>
              </a:rPr>
              <a:t>REST APIs, dependency injection, validation, transaction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07791"/>
            <a:ext cx="1920240" cy="62179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AB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54096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>
                <a:solidFill>
                  <a:srgbClr val="AB89FF"/>
                </a:solidFill>
                <a:latin typeface="Aptos"/>
              </a:rPr>
              <a:t>Persistence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2907791"/>
            <a:ext cx="356616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017520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F8FAFD"/>
                </a:solidFill>
                <a:latin typeface="Aptos"/>
              </a:rPr>
              <a:t>Spring Data JPA • Hibernate 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907791"/>
            <a:ext cx="530352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999232"/>
            <a:ext cx="4937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30" b="0">
                <a:solidFill>
                  <a:srgbClr val="BED0E8"/>
                </a:solidFill>
                <a:latin typeface="Aptos"/>
              </a:rPr>
              <a:t>Entity mapping, repository abstraction, relationship handling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12464"/>
            <a:ext cx="1920240" cy="62179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F9C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58768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>
                <a:solidFill>
                  <a:srgbClr val="F9CA52"/>
                </a:solidFill>
                <a:latin typeface="Aptos"/>
              </a:rPr>
              <a:t>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3712464"/>
            <a:ext cx="356616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3822192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F8FAFD"/>
                </a:solidFill>
                <a:latin typeface="Aptos"/>
              </a:rPr>
              <a:t>MySQL 8.0+ Enterprise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712464"/>
            <a:ext cx="530352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803904"/>
            <a:ext cx="4937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30" b="0">
                <a:solidFill>
                  <a:srgbClr val="BED0E8"/>
                </a:solidFill>
                <a:latin typeface="Aptos"/>
              </a:rPr>
              <a:t>Constraints, indexes, transactions and atomic state updates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517136"/>
            <a:ext cx="1920240" cy="62179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663440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>
                <a:solidFill>
                  <a:srgbClr val="47DC89"/>
                </a:solidFill>
                <a:latin typeface="Aptos"/>
              </a:rPr>
              <a:t>Security / Integrity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6040" y="4517136"/>
            <a:ext cx="356616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4626864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F8FAFD"/>
                </a:solidFill>
                <a:latin typeface="Aptos"/>
              </a:rPr>
              <a:t>Jakarta Bean Validation • UUID tokens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517136"/>
            <a:ext cx="530352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608575"/>
            <a:ext cx="4937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30" b="0">
                <a:solidFill>
                  <a:srgbClr val="BED0E8"/>
                </a:solidFill>
                <a:latin typeface="Aptos"/>
              </a:rPr>
              <a:t>Input validation, session verification and concurrency-safe workflows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321808"/>
            <a:ext cx="1920240" cy="62179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468112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>
                <a:solidFill>
                  <a:srgbClr val="F55B5B"/>
                </a:solidFill>
                <a:latin typeface="Aptos"/>
              </a:rPr>
              <a:t>QR / Utility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06040" y="5321808"/>
            <a:ext cx="356616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5431536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F8FAFD"/>
                </a:solidFill>
                <a:latin typeface="Aptos"/>
              </a:rPr>
              <a:t>ZXing (Zebra Crossing)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5321808"/>
            <a:ext cx="5303520" cy="621792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413248"/>
            <a:ext cx="4937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30" b="0">
                <a:solidFill>
                  <a:srgbClr val="BED0E8"/>
                </a:solidFill>
                <a:latin typeface="Aptos"/>
              </a:rPr>
              <a:t>Backend QR generation without external QR-service dependency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Three-Tier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Client → REST API → Relational database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417320"/>
            <a:ext cx="11018520" cy="12344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72768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41E8CA"/>
                </a:solidFill>
                <a:latin typeface="Aptos"/>
              </a:rPr>
              <a:t>PRESENTATION /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63624"/>
            <a:ext cx="8001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30" b="1">
                <a:solidFill>
                  <a:srgbClr val="F8FAFD"/>
                </a:solidFill>
                <a:latin typeface="Aptos"/>
              </a:rPr>
              <a:t>Browser SPA • HTML5 • CSS3 • JavaScript ES6+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84248"/>
            <a:ext cx="8001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0">
                <a:solidFill>
                  <a:srgbClr val="BED0E8"/>
                </a:solidFill>
                <a:latin typeface="Aptos"/>
              </a:rPr>
              <a:t>Driver UI • Admin Dashboard • Live Parking Grid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651760"/>
            <a:ext cx="0" cy="210312"/>
          </a:xfrm>
          <a:prstGeom prst="line">
            <a:avLst/>
          </a:prstGeom>
          <a:ln w="2540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" y="2926080"/>
            <a:ext cx="11018520" cy="12344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081528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7AB3FF"/>
                </a:solidFill>
                <a:latin typeface="Aptos"/>
              </a:rPr>
              <a:t>APPLICATION /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72384"/>
            <a:ext cx="8001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30" b="1">
                <a:solidFill>
                  <a:srgbClr val="F8FAFD"/>
                </a:solidFill>
                <a:latin typeface="Aptos"/>
              </a:rPr>
              <a:t>Spring Boot 3.3 • REST Controllers • Service Layer • JPA/Hibernate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93008"/>
            <a:ext cx="8001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0">
                <a:solidFill>
                  <a:srgbClr val="BED0E8"/>
                </a:solidFill>
                <a:latin typeface="Aptos"/>
              </a:rPr>
              <a:t>Allocation • Sessions • QR • Billing • Analytics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160520"/>
            <a:ext cx="0" cy="210312"/>
          </a:xfrm>
          <a:prstGeom prst="line">
            <a:avLst/>
          </a:prstGeom>
          <a:ln w="25400">
            <a:solidFill>
              <a:srgbClr val="7A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4360" y="4434840"/>
            <a:ext cx="11018520" cy="12344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590288"/>
            <a:ext cx="2377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47DC89"/>
                </a:solidFill>
                <a:latin typeface="Aptos"/>
              </a:rPr>
              <a:t>DATA / 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581144"/>
            <a:ext cx="8001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30" b="1">
                <a:solidFill>
                  <a:srgbClr val="F8FAFD"/>
                </a:solidFill>
                <a:latin typeface="Aptos"/>
              </a:rPr>
              <a:t>MySQL 8.0+ • Relational Constraints • Indexes • 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5001768"/>
            <a:ext cx="8001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0">
                <a:solidFill>
                  <a:srgbClr val="BED0E8"/>
                </a:solidFill>
                <a:latin typeface="Aptos"/>
              </a:rPr>
              <a:t>Floors • Zones • Slots • Vehicles • Sessions • Payments • Rates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5669279"/>
            <a:ext cx="0" cy="210313"/>
          </a:xfrm>
          <a:prstGeom prst="line">
            <a:avLst/>
          </a:prstGeom>
          <a:ln w="25400">
            <a:solidFill>
              <a:srgbClr val="47D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840" y="5989320"/>
            <a:ext cx="10149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41E8CA"/>
                </a:solidFill>
                <a:latin typeface="Aptos"/>
              </a:rPr>
              <a:t>Design principle: keep UI concerns, business rules and persistence logic separated so each layer can evolve without rewriting the whole application.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Database Schema / Entity-Relationship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Core entities and relationships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1874519" cy="14173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63624"/>
            <a:ext cx="16550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41E8CA"/>
                </a:solidFill>
                <a:latin typeface="Aptos"/>
              </a:rPr>
              <a:t>ParkingFloor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65960"/>
            <a:ext cx="165506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id • name
Basement / Ground / Floor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17320"/>
            <a:ext cx="1874519" cy="14173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563624"/>
            <a:ext cx="16550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7AB3FF"/>
                </a:solidFill>
                <a:latin typeface="Aptos"/>
              </a:rPr>
              <a:t>ParkingZone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965960"/>
            <a:ext cx="165506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id • floor_id • name
Zone A / Zone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417320"/>
            <a:ext cx="1874519" cy="14173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1563624"/>
            <a:ext cx="16550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47DC89"/>
                </a:solidFill>
                <a:latin typeface="Aptos"/>
              </a:rPr>
              <a:t>ParkingSlot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965960"/>
            <a:ext cx="165506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id • zone_id • code
vehicle_type •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417320"/>
            <a:ext cx="1874519" cy="14173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AB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1563624"/>
            <a:ext cx="16550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AB89FF"/>
                </a:solidFill>
                <a:latin typeface="Aptos"/>
              </a:rPr>
              <a:t>Vehicle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1965960"/>
            <a:ext cx="165506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plate • type • owner
unique license plate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794760"/>
            <a:ext cx="1874519" cy="14173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9C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38528" y="3941064"/>
            <a:ext cx="16550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9CA52"/>
                </a:solidFill>
                <a:latin typeface="Aptos"/>
              </a:rPr>
              <a:t>ParkingSession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4343400"/>
            <a:ext cx="165506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id • slot • vehicle
entry • exit • duration • fee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794760"/>
            <a:ext cx="1874519" cy="14173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941064"/>
            <a:ext cx="16550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55B5B"/>
                </a:solidFill>
                <a:latin typeface="Aptos"/>
              </a:rPr>
              <a:t>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343400"/>
            <a:ext cx="165506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id • session_id
reference • method •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794760"/>
            <a:ext cx="1874519" cy="14173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7" y="3941064"/>
            <a:ext cx="16550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41E8CA"/>
                </a:solidFill>
                <a:latin typeface="Aptos"/>
              </a:rPr>
              <a:t>ParkingRate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4343400"/>
            <a:ext cx="165506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id • vehicle_type
base • hourly • grace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77440" y="2121408"/>
            <a:ext cx="411480" cy="0"/>
          </a:xfrm>
          <a:prstGeom prst="line">
            <a:avLst/>
          </a:prstGeom>
          <a:ln w="17780">
            <a:solidFill>
              <a:srgbClr val="BE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63440" y="2121408"/>
            <a:ext cx="411480" cy="0"/>
          </a:xfrm>
          <a:prstGeom prst="line">
            <a:avLst/>
          </a:prstGeom>
          <a:ln w="17780">
            <a:solidFill>
              <a:srgbClr val="BE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0" y="2121408"/>
            <a:ext cx="411480" cy="0"/>
          </a:xfrm>
          <a:prstGeom prst="line">
            <a:avLst/>
          </a:prstGeom>
          <a:ln w="17780">
            <a:solidFill>
              <a:srgbClr val="BE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770632" y="2834640"/>
            <a:ext cx="3246120" cy="960120"/>
          </a:xfrm>
          <a:prstGeom prst="line">
            <a:avLst/>
          </a:prstGeom>
          <a:ln w="17780">
            <a:solidFill>
              <a:srgbClr val="BE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605272" y="2834640"/>
            <a:ext cx="411480" cy="960120"/>
          </a:xfrm>
          <a:prstGeom prst="line">
            <a:avLst/>
          </a:prstGeom>
          <a:ln w="17780">
            <a:solidFill>
              <a:srgbClr val="BE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02752" y="2834640"/>
            <a:ext cx="137160" cy="960120"/>
          </a:xfrm>
          <a:prstGeom prst="line">
            <a:avLst/>
          </a:prstGeom>
          <a:ln w="17780">
            <a:solidFill>
              <a:srgbClr val="BE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87168" y="193852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00" b="1">
                <a:solidFill>
                  <a:srgbClr val="BED0E8"/>
                </a:solidFill>
                <a:latin typeface="Aptos"/>
              </a:rPr>
              <a:t>1:N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1938528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00" b="1">
                <a:solidFill>
                  <a:srgbClr val="BED0E8"/>
                </a:solidFill>
                <a:latin typeface="Aptos"/>
              </a:rPr>
              <a:t>1:N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880360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00" b="1">
                <a:solidFill>
                  <a:srgbClr val="BED0E8"/>
                </a:solidFill>
                <a:latin typeface="Aptos"/>
              </a:rPr>
              <a:t>1:1 / 1:N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Key Algorithm: Double Allocation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Atomic conditional update at database level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11155680" cy="2148840"/>
          </a:xfrm>
          <a:prstGeom prst="roundRect">
            <a:avLst/>
          </a:prstGeom>
          <a:solidFill>
            <a:srgbClr val="0A182E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10469880" cy="1508760"/>
          </a:xfrm>
          <a:prstGeom prst="rect">
            <a:avLst/>
          </a:prstGeom>
          <a:noFill/>
        </p:spPr>
        <p:txBody>
          <a:bodyPr wrap="square" lIns="137160" rIns="137160" tIns="137160" bIns="137160" anchor="t">
            <a:normAutofit/>
          </a:bodyPr>
          <a:lstStyle/>
          <a:p>
            <a:pPr algn="l"/>
            <a:r>
              <a:rPr sz="1600" b="0">
                <a:solidFill>
                  <a:srgbClr val="F8FAFD"/>
                </a:solidFill>
                <a:latin typeface="Aptos"/>
              </a:rPr>
              <a:t>UPDATE parking_slots
SET status = 'OCCUPIED',
    is_occupied = true,
    current_vehicle_plate = ?
WHERE id = ?
  AND status = 'AVAILABLE';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233172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005072"/>
            <a:ext cx="211226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47DC89"/>
                </a:solidFill>
                <a:latin typeface="Aptos"/>
              </a:rPr>
              <a:t>1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16552"/>
            <a:ext cx="21488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Successful claim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886200"/>
            <a:ext cx="233172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4005072"/>
            <a:ext cx="211226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F55B5B"/>
                </a:solidFill>
                <a:latin typeface="Aptos"/>
              </a:rPr>
              <a:t>0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416552"/>
            <a:ext cx="21488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Conflicting claim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3886200"/>
            <a:ext cx="233172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168" y="4005072"/>
            <a:ext cx="211226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41E8CA"/>
                </a:solidFill>
                <a:latin typeface="Aptos"/>
              </a:rPr>
              <a:t>Atomic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79" y="4416552"/>
            <a:ext cx="21488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State transition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886200"/>
            <a:ext cx="2331720" cy="96012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4005072"/>
            <a:ext cx="2112263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7AB3FF"/>
                </a:solidFill>
                <a:latin typeface="Aptos"/>
              </a:rPr>
              <a:t>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416552"/>
            <a:ext cx="21488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>
                <a:solidFill>
                  <a:srgbClr val="BED0E8"/>
                </a:solidFill>
                <a:latin typeface="Aptos"/>
              </a:rPr>
              <a:t>Try next slot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11155680" cy="10058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5120640"/>
            <a:ext cx="64008" cy="1005840"/>
          </a:xfrm>
          <a:prstGeom prst="roundRect">
            <a:avLst/>
          </a:prstGeom>
          <a:solidFill>
            <a:srgbClr val="47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57800"/>
            <a:ext cx="10835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7DC89"/>
                </a:solidFill>
                <a:latin typeface="Aptos"/>
              </a:rPr>
              <a:t>Concurrency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8756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80" b="0">
                <a:solidFill>
                  <a:srgbClr val="F8FAFD"/>
                </a:solidFill>
                <a:latin typeface="Aptos"/>
              </a:rPr>
              <a:t>If two requests target the same available bay at the same moment, the database condition allows only one request to change the row; the other observes rowsUpdated = 0 and can select another compatible slot.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Concurrency, Transactions &amp;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How the application protects state across operations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53312"/>
            <a:ext cx="3474720" cy="448056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64008" cy="4480560"/>
          </a:xfrm>
          <a:prstGeom prst="roundRect">
            <a:avLst/>
          </a:prstGeom>
          <a:solidFill>
            <a:srgbClr val="41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0472"/>
            <a:ext cx="31546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41E8CA"/>
                </a:solidFill>
                <a:latin typeface="Aptos"/>
              </a:rPr>
              <a:t>Transactional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2926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F8FAFD"/>
                </a:solidFill>
                <a:latin typeface="Aptos"/>
              </a:rPr>
              <a:t>Check-in, slot claim and session creation are coordinated within transaction-aware service methods.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5059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2926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F8FAFD"/>
                </a:solidFill>
                <a:latin typeface="Aptos"/>
              </a:rPr>
              <a:t>Rollback prevents partial state when a dependent operation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353312"/>
            <a:ext cx="3474720" cy="448056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59" y="1353312"/>
            <a:ext cx="64008" cy="4480560"/>
          </a:xfrm>
          <a:prstGeom prst="roundRect">
            <a:avLst/>
          </a:prstGeom>
          <a:solidFill>
            <a:srgbClr val="7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90472"/>
            <a:ext cx="31546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7AB3FF"/>
                </a:solidFill>
                <a:latin typeface="Aptos"/>
              </a:rPr>
              <a:t>Optimistic / Pessimistic Locking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901952"/>
            <a:ext cx="2926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F8FAFD"/>
                </a:solidFill>
                <a:latin typeface="Aptos"/>
              </a:rPr>
              <a:t>Locking strategies can protect records where concurrent edits are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45059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7AB3F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32304"/>
            <a:ext cx="2926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F8FAFD"/>
                </a:solidFill>
                <a:latin typeface="Aptos"/>
              </a:rPr>
              <a:t>The allocation condition remains the primary guard for slot ownership.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53312"/>
            <a:ext cx="3474720" cy="448056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1353312"/>
            <a:ext cx="64008" cy="4480560"/>
          </a:xfrm>
          <a:prstGeom prst="roundRect">
            <a:avLst/>
          </a:prstGeom>
          <a:solidFill>
            <a:srgbClr val="47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490472"/>
            <a:ext cx="31546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47DC89"/>
                </a:solidFill>
                <a:latin typeface="Aptos"/>
              </a:rPr>
              <a:t>Validation &amp; 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192024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901952"/>
            <a:ext cx="2926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F8FAFD"/>
                </a:solidFill>
                <a:latin typeface="Aptos"/>
              </a:rPr>
              <a:t>Jakarta Bean Validation checks request data before persistence.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45059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32304"/>
            <a:ext cx="2926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F8FAFD"/>
                </a:solidFill>
                <a:latin typeface="Aptos"/>
              </a:rPr>
              <a:t>Unique plate and relational constraints reduce duplicate or orphaned records.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53328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80" b="1">
                <a:solidFill>
                  <a:srgbClr val="41E8CA"/>
                </a:solidFill>
                <a:latin typeface="Aptos"/>
              </a:rPr>
              <a:t>Integrity goal: every occupied bay should correspond to a valid active parking session, and every completed session should produce an auditable billing/payment record.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Live Demonstration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Recommended end-to-end viva demo sequence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2542032" cy="19202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9047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1E8C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472184"/>
            <a:ext cx="16642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Grid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47672"/>
            <a:ext cx="221284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0">
                <a:solidFill>
                  <a:srgbClr val="BED0E8"/>
                </a:solidFill>
                <a:latin typeface="Aptos"/>
              </a:rPr>
              <a:t>Open the multi-floor grid and explain green = available, red = occupied.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25880"/>
            <a:ext cx="2542032" cy="19202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49047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7AB3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1472184"/>
            <a:ext cx="16642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Vehicle Check-In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947672"/>
            <a:ext cx="221284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0">
                <a:solidFill>
                  <a:srgbClr val="BED0E8"/>
                </a:solidFill>
                <a:latin typeface="Aptos"/>
              </a:rPr>
              <a:t>Register 4-Wheeler MH12AB1234 and allocate a compatible bay.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2542032" cy="19202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49047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1E8CA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472184"/>
            <a:ext cx="16642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QR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1947672"/>
            <a:ext cx="221284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0">
                <a:solidFill>
                  <a:srgbClr val="BED0E8"/>
                </a:solidFill>
                <a:latin typeface="Aptos"/>
              </a:rPr>
              <a:t>Show the generated session-linked QR parking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325880"/>
            <a:ext cx="2542032" cy="19202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149047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7AB3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1472184"/>
            <a:ext cx="16642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Duplicate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1947672"/>
            <a:ext cx="221284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0">
                <a:solidFill>
                  <a:srgbClr val="BED0E8"/>
                </a:solidFill>
                <a:latin typeface="Aptos"/>
              </a:rPr>
              <a:t>Attempt a second check-in for MH12AB1234 and show duplicate-session blocking.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66160"/>
            <a:ext cx="2542032" cy="19202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73075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1E8CA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712464"/>
            <a:ext cx="16642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Vehicle Checkout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187952"/>
            <a:ext cx="221284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0">
                <a:solidFill>
                  <a:srgbClr val="BED0E8"/>
                </a:solidFill>
                <a:latin typeface="Aptos"/>
              </a:rPr>
              <a:t>Search the same plate, review duration and transparent fee breakdown.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566160"/>
            <a:ext cx="2542032" cy="19202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373075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7AB3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5928" y="3712464"/>
            <a:ext cx="16642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4187952"/>
            <a:ext cx="221284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0">
                <a:solidFill>
                  <a:srgbClr val="BED0E8"/>
                </a:solidFill>
                <a:latin typeface="Aptos"/>
              </a:rPr>
              <a:t>Select UPI and complete the checkout/payment record.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566160"/>
            <a:ext cx="2542032" cy="19202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73075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41E8CA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712464"/>
            <a:ext cx="16642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Settlement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187952"/>
            <a:ext cx="221284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0">
                <a:solidFill>
                  <a:srgbClr val="BED0E8"/>
                </a:solidFill>
                <a:latin typeface="Aptos"/>
              </a:rPr>
              <a:t>Verify the bay returns to green and the session becomes completed.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3566160"/>
            <a:ext cx="2542032" cy="192024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373075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7AB3FF"/>
                </a:solidFill>
                <a:latin typeface="Aptos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5208" y="3712464"/>
            <a:ext cx="16642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8FAFD"/>
                </a:solidFill>
                <a:latin typeface="Aptos"/>
              </a:rPr>
              <a:t>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4187952"/>
            <a:ext cx="2212848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0">
                <a:solidFill>
                  <a:srgbClr val="BED0E8"/>
                </a:solidFill>
                <a:latin typeface="Aptos"/>
              </a:rPr>
              <a:t>Open Admin Analytics and verify revenue, occupancy and peak-hour updates.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870448"/>
            <a:ext cx="8001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9CA52"/>
                </a:solidFill>
                <a:latin typeface="Aptos"/>
              </a:rPr>
              <a:t>Demo vehicle: MH12AB1234  •  Vehicle type: 4-Wheeler  •  Payment: UPI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Testing &amp; Validation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Evidence that the main workflows behave correctly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07592"/>
            <a:ext cx="731520" cy="43891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99032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1">
                <a:solidFill>
                  <a:srgbClr val="41E8CA"/>
                </a:solidFill>
                <a:latin typeface="Aptos"/>
              </a:rPr>
              <a:t>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307592"/>
            <a:ext cx="1325880" cy="43891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6" y="1399032"/>
            <a:ext cx="12527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1">
                <a:solidFill>
                  <a:srgbClr val="41E8CA"/>
                </a:solidFill>
                <a:latin typeface="Aptos"/>
              </a:rPr>
              <a:t>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307592"/>
            <a:ext cx="2606040" cy="43891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399032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1">
                <a:solidFill>
                  <a:srgbClr val="41E8CA"/>
                </a:solidFill>
                <a:latin typeface="Aptos"/>
              </a:rPr>
              <a:t>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4160520" cy="43891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14416" y="1399032"/>
            <a:ext cx="4087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1">
                <a:solidFill>
                  <a:srgbClr val="41E8CA"/>
                </a:solidFill>
                <a:latin typeface="Aptos"/>
              </a:rPr>
              <a:t>Expected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307592"/>
            <a:ext cx="1234440" cy="438912"/>
          </a:xfrm>
          <a:prstGeom prst="roundRect">
            <a:avLst/>
          </a:prstGeom>
          <a:solidFill>
            <a:srgbClr val="22436C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49255" y="1399032"/>
            <a:ext cx="11612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1">
                <a:solidFill>
                  <a:srgbClr val="41E8CA"/>
                </a:solidFill>
                <a:latin typeface="Aptos"/>
              </a:rPr>
              <a:t>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810512"/>
            <a:ext cx="731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1883664"/>
            <a:ext cx="6217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TC-01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1810512"/>
            <a:ext cx="132588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72184" y="1883664"/>
            <a:ext cx="12161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Available Slot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1810512"/>
            <a:ext cx="26060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5224" y="1883664"/>
            <a:ext cx="24963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Check-in compatible vehicle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810512"/>
            <a:ext cx="4160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2703" y="1883664"/>
            <a:ext cx="4050791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Session created; bay turns 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1810512"/>
            <a:ext cx="12344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7544" y="1883664"/>
            <a:ext cx="1124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1">
                <a:solidFill>
                  <a:srgbClr val="47DC89"/>
                </a:solidFill>
                <a:latin typeface="Aptos"/>
              </a:rPr>
              <a:t>PASS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404872"/>
            <a:ext cx="731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2478024"/>
            <a:ext cx="6217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TC-02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2404872"/>
            <a:ext cx="132588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72184" y="2478024"/>
            <a:ext cx="12161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Duplicate Vehicle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360" y="2404872"/>
            <a:ext cx="26060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5224" y="2478024"/>
            <a:ext cx="24963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Check-in same active plate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2404872"/>
            <a:ext cx="4160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32703" y="2478024"/>
            <a:ext cx="4050791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Second active session blocked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80" y="2404872"/>
            <a:ext cx="12344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67544" y="2478024"/>
            <a:ext cx="1124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1">
                <a:solidFill>
                  <a:srgbClr val="47DC89"/>
                </a:solidFill>
                <a:latin typeface="Aptos"/>
              </a:rPr>
              <a:t>PASS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999232"/>
            <a:ext cx="731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" y="3072384"/>
            <a:ext cx="6217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TC-03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17320" y="2999232"/>
            <a:ext cx="132588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72184" y="3072384"/>
            <a:ext cx="12161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Concurrent Claim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2999232"/>
            <a:ext cx="26060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35224" y="3072384"/>
            <a:ext cx="24963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Two requests target one bay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7840" y="2999232"/>
            <a:ext cx="4160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3" y="3072384"/>
            <a:ext cx="4050791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Only one update succeeds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12680" y="2999232"/>
            <a:ext cx="12344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67544" y="3072384"/>
            <a:ext cx="1124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1">
                <a:solidFill>
                  <a:srgbClr val="47DC89"/>
                </a:solidFill>
                <a:latin typeface="Aptos"/>
              </a:rPr>
              <a:t>PASS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3593591"/>
            <a:ext cx="731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" y="3666744"/>
            <a:ext cx="6217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TC-04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17320" y="3593591"/>
            <a:ext cx="132588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72184" y="3666744"/>
            <a:ext cx="12161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Checkout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80360" y="3593591"/>
            <a:ext cx="26060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5224" y="3666744"/>
            <a:ext cx="24963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Complete an active session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77840" y="3593591"/>
            <a:ext cx="4160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32703" y="3666744"/>
            <a:ext cx="4050791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Fee calculated; bay turns GREEN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12680" y="3593591"/>
            <a:ext cx="12344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67544" y="3666744"/>
            <a:ext cx="1124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1">
                <a:solidFill>
                  <a:srgbClr val="47DC89"/>
                </a:solidFill>
                <a:latin typeface="Aptos"/>
              </a:rPr>
              <a:t>PASS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4187952"/>
            <a:ext cx="731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" y="4261104"/>
            <a:ext cx="6217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TC-05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17320" y="4187952"/>
            <a:ext cx="132588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72184" y="4261104"/>
            <a:ext cx="12161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No Availability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880360" y="4187952"/>
            <a:ext cx="26060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35224" y="4261104"/>
            <a:ext cx="24963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Occupy all compatible bays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577840" y="4187952"/>
            <a:ext cx="4160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32703" y="4261104"/>
            <a:ext cx="4050791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System shows no-slot message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12680" y="4187952"/>
            <a:ext cx="12344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67544" y="4261104"/>
            <a:ext cx="1124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1">
                <a:solidFill>
                  <a:srgbClr val="47DC89"/>
                </a:solidFill>
                <a:latin typeface="Aptos"/>
              </a:rPr>
              <a:t>PASS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4782312"/>
            <a:ext cx="731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7784" y="4855464"/>
            <a:ext cx="6217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TC-06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17320" y="4782312"/>
            <a:ext cx="132588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72184" y="4855464"/>
            <a:ext cx="12161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Rate Update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880360" y="4782312"/>
            <a:ext cx="26060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35224" y="4855464"/>
            <a:ext cx="24963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Change hourly tariff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577840" y="4782312"/>
            <a:ext cx="4160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32703" y="4855464"/>
            <a:ext cx="4050791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New tariff used without restart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12680" y="4782312"/>
            <a:ext cx="12344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67544" y="4855464"/>
            <a:ext cx="1124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1">
                <a:solidFill>
                  <a:srgbClr val="47DC89"/>
                </a:solidFill>
                <a:latin typeface="Aptos"/>
              </a:rPr>
              <a:t>PASS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5376672"/>
            <a:ext cx="731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7784" y="5449824"/>
            <a:ext cx="62179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0">
                <a:solidFill>
                  <a:srgbClr val="F8FAFD"/>
                </a:solidFill>
                <a:latin typeface="Aptos"/>
              </a:rPr>
              <a:t>TC-07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417320" y="5376672"/>
            <a:ext cx="132588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72184" y="5449824"/>
            <a:ext cx="121615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QR Verification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880360" y="5376672"/>
            <a:ext cx="26060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35224" y="5449824"/>
            <a:ext cx="24963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Validate generated session QR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577840" y="5376672"/>
            <a:ext cx="416052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32703" y="5449824"/>
            <a:ext cx="4050791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19" b="0">
                <a:solidFill>
                  <a:srgbClr val="F8FAFD"/>
                </a:solidFill>
                <a:latin typeface="Aptos"/>
              </a:rPr>
              <a:t>Session data matches stored record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012680" y="5376672"/>
            <a:ext cx="1234440" cy="557784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67544" y="5449824"/>
            <a:ext cx="1124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19" b="1">
                <a:solidFill>
                  <a:srgbClr val="47DC89"/>
                </a:solidFill>
                <a:latin typeface="Aptos"/>
              </a:rPr>
              <a:t>PASS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6144768"/>
            <a:ext cx="10561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>
                <a:solidFill>
                  <a:srgbClr val="F9CA52"/>
                </a:solidFill>
                <a:latin typeface="Aptos"/>
              </a:rPr>
              <a:t>Important viva evidence: test both normal workflow and failure/concurrency cases, not only the successful check-in path.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Viva Q&amp;A — Common 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Short answers you can explain confidently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5303520" cy="212140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41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41E8CA"/>
                </a:solidFill>
                <a:latin typeface="Aptos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92807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How does the application prevent double allocation?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6856"/>
            <a:ext cx="48920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80" b="0">
                <a:solidFill>
                  <a:srgbClr val="F8FAFD"/>
                </a:solidFill>
                <a:latin typeface="Aptos"/>
              </a:rPr>
              <a:t>An atomic UPDATE includes WHERE status = 'AVAILABLE'. Only one concurrent request can change the slot successfully; conflicting requests get zero updated rows and fall back to another slot.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5303520" cy="212140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7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90472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7AB3FF"/>
                </a:solidFill>
                <a:latin typeface="Aptos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92807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Why Spring Boot + JPA instead of standard JDBC?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76856"/>
            <a:ext cx="48920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80" b="0">
                <a:solidFill>
                  <a:srgbClr val="F8FAFD"/>
                </a:solidFill>
                <a:latin typeface="Aptos"/>
              </a:rPr>
              <a:t>Spring Boot provides embedded server, dependency injection and transaction support. Spring Data JPA reduces repetitive SQL and maps Java entities to relational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21608"/>
            <a:ext cx="5303520" cy="212140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AB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AB89FF"/>
                </a:solidFill>
                <a:latin typeface="Aptos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88536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How is the QR code generated and verified?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72584"/>
            <a:ext cx="48920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80" b="0">
                <a:solidFill>
                  <a:srgbClr val="F8FAFD"/>
                </a:solidFill>
                <a:latin typeface="Aptos"/>
              </a:rPr>
              <a:t>ZXing encodes session information such as session ID, vehicle plate, bay and timestamp. The application verifies the session/token against stored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21608"/>
            <a:ext cx="5303520" cy="2121408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F9C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886200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9CA52"/>
                </a:solidFill>
                <a:latin typeface="Aptos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88536"/>
            <a:ext cx="4892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>
                <a:solidFill>
                  <a:srgbClr val="F8FAFD"/>
                </a:solidFill>
                <a:latin typeface="Aptos"/>
              </a:rPr>
              <a:t>Can tariffs change without restarting the server?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72584"/>
            <a:ext cx="489204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80" b="0">
                <a:solidFill>
                  <a:srgbClr val="F8FAFD"/>
                </a:solidFill>
                <a:latin typeface="Aptos"/>
              </a:rPr>
              <a:t>Yes. Rates are stored in MySQL and exposed through REST endpoints such as /api/rates, so administrators can update configuration while the application is running.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44768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>
                <a:solidFill>
                  <a:srgbClr val="41E8CA"/>
                </a:solidFill>
                <a:latin typeface="Aptos"/>
              </a:rPr>
              <a:t>Viva tip: explain the reason behind each technology choice, then connect it to a concrete ParkSmart feature.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10528"/>
            <a:ext cx="7955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>
                <a:solidFill>
                  <a:srgbClr val="BED0E8"/>
                </a:solidFill>
                <a:latin typeface="Aptos"/>
              </a:rPr>
              <a:t>PARKSMART  •  Smart Parking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9224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0">
                <a:solidFill>
                  <a:srgbClr val="BED0E8"/>
                </a:solidFill>
                <a:latin typeface="Aptos"/>
              </a:rP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41E8CA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>
                <a:solidFill>
                  <a:srgbClr val="F8FAFD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70408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BED0E8"/>
                </a:solidFill>
                <a:latin typeface="Aptos"/>
              </a:rPr>
              <a:t>ParkSmart as a foundation for modern parking infrastructure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024128"/>
            <a:ext cx="11365992" cy="0"/>
          </a:xfrm>
          <a:prstGeom prst="line">
            <a:avLst/>
          </a:prstGeom>
          <a:ln w="15240">
            <a:solidFill>
              <a:srgbClr val="41E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64008" cy="4526280"/>
          </a:xfrm>
          <a:prstGeom prst="roundRect">
            <a:avLst/>
          </a:prstGeom>
          <a:solidFill>
            <a:srgbClr val="41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39"/>
            <a:ext cx="5074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41E8CA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92807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846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ParkSmart provides a complete digital parking lifecycle from vehicle entry to payment and exit.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4846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Real-time occupancy makes available capacity visible across multiple floors.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35224"/>
            <a:ext cx="4846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Automated allocation reduces manual bay-selection conflicts.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8386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65576"/>
            <a:ext cx="4846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QR passes provide a contactless session-verification mechanism.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14215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41E8CA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5928"/>
            <a:ext cx="4846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0">
                <a:solidFill>
                  <a:srgbClr val="F8FAFD"/>
                </a:solidFill>
                <a:latin typeface="Aptos"/>
              </a:rPr>
              <a:t>Dynamic tariffs and analytics support transparent billing and operational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325880"/>
            <a:ext cx="5532120" cy="4526280"/>
          </a:xfrm>
          <a:prstGeom prst="roundRect">
            <a:avLst/>
          </a:prstGeom>
          <a:solidFill>
            <a:srgbClr val="1D3B63"/>
          </a:solidFill>
          <a:ln w="12700">
            <a:solidFill>
              <a:srgbClr val="396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1325880"/>
            <a:ext cx="64008" cy="4526280"/>
          </a:xfrm>
          <a:prstGeom prst="roundRect">
            <a:avLst/>
          </a:prstGeom>
          <a:solidFill>
            <a:srgbClr val="47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463039"/>
            <a:ext cx="5212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47DC89"/>
                </a:solidFill>
                <a:latin typeface="Aptos"/>
              </a:rPr>
              <a:t>Future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892807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9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874519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90" b="0">
                <a:solidFill>
                  <a:srgbClr val="F8FAFD"/>
                </a:solidFill>
                <a:latin typeface="Aptos"/>
              </a:rPr>
              <a:t>ANPR: computer-vision cameras can detect vehicle number plates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423160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9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404872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90" b="0">
                <a:solidFill>
                  <a:srgbClr val="F8FAFD"/>
                </a:solidFill>
                <a:latin typeface="Aptos"/>
              </a:rPr>
              <a:t>IoT sensors: ultrasonic or magnetometer sensors can feed physical bay occupancy.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953512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9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935224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90" b="0">
                <a:solidFill>
                  <a:srgbClr val="F8FAFD"/>
                </a:solidFill>
                <a:latin typeface="Aptos"/>
              </a:rPr>
              <a:t>Smart guidance: direct drivers to the nearest compatible available bay.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483864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9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465576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90" b="0">
                <a:solidFill>
                  <a:srgbClr val="F8FAFD"/>
                </a:solidFill>
                <a:latin typeface="Aptos"/>
              </a:rPr>
              <a:t>Payment integration: FASTag and payment gateways for automated settlement.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14215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9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995928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90" b="0">
                <a:solidFill>
                  <a:srgbClr val="F8FAFD"/>
                </a:solidFill>
                <a:latin typeface="Aptos"/>
              </a:rPr>
              <a:t>Predictive analytics: forecast demand and peak occupancy using historical data.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44568"/>
            <a:ext cx="2011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90" b="1">
                <a:solidFill>
                  <a:srgbClr val="47DC89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526280"/>
            <a:ext cx="4983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90" b="0">
                <a:solidFill>
                  <a:srgbClr val="F8FAFD"/>
                </a:solidFill>
                <a:latin typeface="Aptos"/>
              </a:rPr>
              <a:t>Mobile application: extend QR passes, notifications and reservations to smartphones.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6016752"/>
            <a:ext cx="4297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F8FAFD"/>
                </a:solidFill>
                <a:latin typeface="Aptos"/>
              </a:rPr>
              <a:t>THANK YOU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6382512"/>
            <a:ext cx="4846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1">
                <a:solidFill>
                  <a:srgbClr val="41E8CA"/>
                </a:solidFill>
                <a:latin typeface="Aptos"/>
              </a:rPr>
              <a:t>Questions &amp; Viva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